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관리자 대시보드" id="{2CEF19C6-3106-A746-9AA5-F00E7CFA83AE}">
          <p14:sldIdLst>
            <p14:sldId id="256"/>
            <p14:sldId id="257"/>
          </p14:sldIdLst>
        </p14:section>
        <p14:section name="기관별 수집 현황" id="{17E4E833-D013-0947-80AA-058D26F1DB4E}">
          <p14:sldIdLst>
            <p14:sldId id="258"/>
            <p14:sldId id="259"/>
          </p14:sldIdLst>
        </p14:section>
        <p14:section name="수집/검증" id="{714E78D0-55EF-E346-8F68-FC38C645207B}">
          <p14:sldIdLst>
            <p14:sldId id="264"/>
            <p14:sldId id="260"/>
            <p14:sldId id="261"/>
            <p14:sldId id="262"/>
            <p14:sldId id="263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39"/>
    <p:restoredTop sz="94673"/>
  </p:normalViewPr>
  <p:slideViewPr>
    <p:cSldViewPr snapToGrid="0">
      <p:cViewPr>
        <p:scale>
          <a:sx n="109" d="100"/>
          <a:sy n="109" d="100"/>
        </p:scale>
        <p:origin x="94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97ED6F-4801-4A8E-6879-920F28EF6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339DDF-8BA1-6014-10CB-07BD2B92F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D99547-7C8F-AFAF-78CA-0CC7DAB1E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14FF-96D3-2F48-A312-D7CDE239579E}" type="datetimeFigureOut">
              <a:rPr kumimoji="1" lang="ko-KR" altLang="en-US" smtClean="0"/>
              <a:t>2026. 6. 30.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EE232A-D165-BFAA-D189-EE98F0BA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524D0B-4856-A601-E398-EE866DBE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BCA3E-7ACE-7B43-AF02-40E8732916E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1597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F523F0-B111-1A9D-C5E8-068880488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269CEB-F933-D27A-A4A0-9B8E3B849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5B17E2-B655-CA32-4400-F82095C69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14FF-96D3-2F48-A312-D7CDE239579E}" type="datetimeFigureOut">
              <a:rPr kumimoji="1" lang="ko-KR" altLang="en-US" smtClean="0"/>
              <a:t>2026. 6. 30.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B6103C-C940-603C-4981-4774F72EE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C4F724-58AC-BB50-000A-CE13A4648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BCA3E-7ACE-7B43-AF02-40E8732916E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127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1E588-E5AF-4C83-B93D-17077D530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00BE8D-81A6-A3FC-E317-E208353BE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7D4B3D-E40E-D2CB-6EEB-BA26952E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14FF-96D3-2F48-A312-D7CDE239579E}" type="datetimeFigureOut">
              <a:rPr kumimoji="1" lang="ko-KR" altLang="en-US" smtClean="0"/>
              <a:t>2026. 6. 30.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68AF27-2093-8E1E-BB42-4AFE1CC9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F52051-89E3-E2BF-7F06-57E8E826C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BCA3E-7ACE-7B43-AF02-40E8732916E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65763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04F911-5CDB-0A91-FCC7-A1EB75A8B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4B0116-AEEE-E7B6-1E6C-250C90D3F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1A9539-A4A5-4209-1901-1A4C8913E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ACD547-4B92-BA04-C332-938A1F62C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14FF-96D3-2F48-A312-D7CDE239579E}" type="datetimeFigureOut">
              <a:rPr kumimoji="1" lang="ko-KR" altLang="en-US" smtClean="0"/>
              <a:t>2026. 6. 30.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E50B71-83E1-6CBD-8F06-2B2E1DE01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443394-B7F3-8C44-4BE3-4C45EF05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BCA3E-7ACE-7B43-AF02-40E8732916E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16049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532A6D-174F-E228-82B7-40920A196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B93826-5F73-A5A5-BF81-6FA840B9A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D87000-CE8D-E465-96E4-EFD345310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6443EF-8C57-0FD9-FDA5-B2C5B37D2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954B92D-62AB-CF4C-18FB-9D8AE53D7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D4C6D93-8B00-A1C7-8F83-21F9EC01F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14FF-96D3-2F48-A312-D7CDE239579E}" type="datetimeFigureOut">
              <a:rPr kumimoji="1" lang="ko-KR" altLang="en-US" smtClean="0"/>
              <a:t>2026. 6. 30.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D0BCB71-9014-20B8-EE37-BE4590B36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7B8B9C-CCF3-A902-9AE3-1D11BD2D5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BCA3E-7ACE-7B43-AF02-40E8732916E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54136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EC19F-26B2-63DA-16A4-03A24DCE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76A504A-394B-A8A1-1365-CB88DD8A3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14FF-96D3-2F48-A312-D7CDE239579E}" type="datetimeFigureOut">
              <a:rPr kumimoji="1" lang="ko-KR" altLang="en-US" smtClean="0"/>
              <a:t>2026. 6. 30.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DC35DB-67FC-39C9-A7A3-7DDCF85A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41A08D-5DBC-A601-11A5-708F61BA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BCA3E-7ACE-7B43-AF02-40E8732916E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2823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00E1917-4FB9-45BD-3984-E3D33B8D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14FF-96D3-2F48-A312-D7CDE239579E}" type="datetimeFigureOut">
              <a:rPr kumimoji="1" lang="ko-KR" altLang="en-US" smtClean="0"/>
              <a:t>2026. 6. 30.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D824A05-F2F6-F812-4420-3E854B57B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CF325C-AE4C-25A3-85C8-4CF62A5D6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BCA3E-7ACE-7B43-AF02-40E8732916E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7172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C360C5-D8CD-EF23-DD84-23469CCE0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C1DAAE-A458-46FF-0ED0-79DE32261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20D95E-E9FC-70EB-5AF2-D9CCA80DA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47AA2A-A489-7698-2220-778D18A85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14FF-96D3-2F48-A312-D7CDE239579E}" type="datetimeFigureOut">
              <a:rPr kumimoji="1" lang="ko-KR" altLang="en-US" smtClean="0"/>
              <a:t>2026. 6. 30.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9ABE9C-6992-B35E-FC6B-B5426FE3C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A26BAA-F355-23F9-1D41-CFEB8BD8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BCA3E-7ACE-7B43-AF02-40E8732916E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35641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0B60EC-5236-5515-E33E-092107B7B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A70D7FF-8EAF-C61D-EAB8-9E7A3BFE26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82E278-D6AB-B177-6300-39E76A357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74D7D0-5396-9289-47EC-267A9A8A5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14FF-96D3-2F48-A312-D7CDE239579E}" type="datetimeFigureOut">
              <a:rPr kumimoji="1" lang="ko-KR" altLang="en-US" smtClean="0"/>
              <a:t>2026. 6. 30.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24643A-F9CE-19AA-0918-C63E512BF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D9B67A-6EE4-EDA9-BE16-88E08BA1B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BCA3E-7ACE-7B43-AF02-40E8732916E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25220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8C9FB6-FB15-08D7-F291-DC23E8AC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F52EC0-C785-4A30-C5F9-583EBFB89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99C718-C259-15F4-87BB-2AF3F6CC0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14FF-96D3-2F48-A312-D7CDE239579E}" type="datetimeFigureOut">
              <a:rPr kumimoji="1" lang="ko-KR" altLang="en-US" smtClean="0"/>
              <a:t>2026. 6. 30.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C8E7CB-8C70-AEEC-2F7D-52F59F194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1E85CF-E393-9D90-63D6-F91CD6C3D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BCA3E-7ACE-7B43-AF02-40E8732916E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7472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8FCE28-73B1-93F5-6918-E652A9A6A3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9EF04A-4BEE-8983-766C-559C555B5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DC71DA-28B6-9014-8BF6-480C9913B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14FF-96D3-2F48-A312-D7CDE239579E}" type="datetimeFigureOut">
              <a:rPr kumimoji="1" lang="ko-KR" altLang="en-US" smtClean="0"/>
              <a:t>2026. 6. 30.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C7629A-ED08-2660-04BF-7DC5052F9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6DAF49-0894-02B6-FD02-F68F94C1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BCA3E-7ACE-7B43-AF02-40E8732916E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9441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F89CAE-AD3B-AA05-B47C-F2D43D5E7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89F67A-1FF4-A742-ABF9-54DB2F877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C10D0B-123B-5C91-04B5-A49068B0F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814FF-96D3-2F48-A312-D7CDE239579E}" type="datetimeFigureOut">
              <a:rPr kumimoji="1" lang="ko-KR" altLang="en-US" smtClean="0"/>
              <a:t>2026. 6. 30.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F6D0BC-FC86-9CC6-4D5A-4578F062B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B3C876-2DC5-A9C4-7CF3-566AED522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BCA3E-7ACE-7B43-AF02-40E8732916E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12310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DEB460-4D70-F696-7BC4-C38BE0A7E998}"/>
              </a:ext>
            </a:extLst>
          </p:cNvPr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데이터 수집 검증 페이지</a:t>
            </a:r>
            <a:endParaRPr kumimoji="1"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F99C46-464E-34DE-DF52-2396D0899005}"/>
              </a:ext>
            </a:extLst>
          </p:cNvPr>
          <p:cNvSpPr/>
          <p:nvPr/>
        </p:nvSpPr>
        <p:spPr>
          <a:xfrm>
            <a:off x="111211" y="494270"/>
            <a:ext cx="11961340" cy="62525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E8676C-4383-2025-5333-6DC24D8D84D6}"/>
              </a:ext>
            </a:extLst>
          </p:cNvPr>
          <p:cNvSpPr/>
          <p:nvPr/>
        </p:nvSpPr>
        <p:spPr>
          <a:xfrm>
            <a:off x="197708" y="605481"/>
            <a:ext cx="2236573" cy="5684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관리자 대시보드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95C41B-014E-BE28-E96B-940E46F63264}"/>
              </a:ext>
            </a:extLst>
          </p:cNvPr>
          <p:cNvSpPr/>
          <p:nvPr/>
        </p:nvSpPr>
        <p:spPr>
          <a:xfrm>
            <a:off x="197708" y="1285104"/>
            <a:ext cx="11726562" cy="16408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수집 데이터 현황</a:t>
            </a:r>
            <a:endParaRPr kumimoji="1" lang="en-US" altLang="ko-K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</a:t>
            </a:r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도시 별 총 수집 데이터를 시각적으로 나타내고 </a:t>
            </a:r>
            <a:endParaRPr kumimoji="1" lang="en-US" altLang="ko-K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검증 전</a:t>
            </a:r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승인</a:t>
            </a:r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수동검토</a:t>
            </a:r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반려된 항목들의 비율을 표시</a:t>
            </a:r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FD9F64E-6519-1DEB-1C42-BB3D52251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611" y="1616163"/>
            <a:ext cx="1075812" cy="11517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DCF11D-1A0B-37BC-3CFE-1176BA1FA777}"/>
              </a:ext>
            </a:extLst>
          </p:cNvPr>
          <p:cNvSpPr txBox="1"/>
          <p:nvPr/>
        </p:nvSpPr>
        <p:spPr>
          <a:xfrm>
            <a:off x="9144000" y="1458099"/>
            <a:ext cx="1396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200" dirty="0"/>
              <a:t>예</a:t>
            </a:r>
            <a:r>
              <a:rPr kumimoji="1" lang="en-US" altLang="ko-KR" sz="1200" dirty="0"/>
              <a:t>)</a:t>
            </a:r>
            <a:r>
              <a:rPr kumimoji="1" lang="ko-KR" altLang="en-US" sz="1200" dirty="0"/>
              <a:t>부산광역시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34E9EC-476E-6EB2-1AB8-AB149EC64345}"/>
              </a:ext>
            </a:extLst>
          </p:cNvPr>
          <p:cNvSpPr/>
          <p:nvPr/>
        </p:nvSpPr>
        <p:spPr>
          <a:xfrm>
            <a:off x="197708" y="3037190"/>
            <a:ext cx="5189838" cy="35736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ysClr val="windowText" lastClr="000000"/>
                </a:solidFill>
              </a:rPr>
              <a:t>수집 데이터 현황 상세 조회</a:t>
            </a:r>
            <a:endParaRPr kumimoji="1" lang="en-US" altLang="ko-KR" dirty="0">
              <a:solidFill>
                <a:sysClr val="windowText" lastClr="000000"/>
              </a:solidFill>
            </a:endParaRPr>
          </a:p>
          <a:p>
            <a:pPr marL="342900" indent="-342900" algn="ctr">
              <a:buAutoNum type="arabicPeriod"/>
            </a:pPr>
            <a:r>
              <a:rPr kumimoji="1" lang="ko-KR" altLang="en-US" dirty="0">
                <a:solidFill>
                  <a:sysClr val="windowText" lastClr="000000"/>
                </a:solidFill>
              </a:rPr>
              <a:t>우상단에 도시</a:t>
            </a:r>
            <a:r>
              <a:rPr kumimoji="1" lang="en-US" altLang="ko-KR" dirty="0">
                <a:solidFill>
                  <a:sysClr val="windowText" lastClr="000000"/>
                </a:solidFill>
              </a:rPr>
              <a:t>,</a:t>
            </a:r>
            <a:r>
              <a:rPr kumimoji="1" lang="ko-KR" altLang="en-US" dirty="0">
                <a:solidFill>
                  <a:sysClr val="windowText" lastClr="000000"/>
                </a:solidFill>
              </a:rPr>
              <a:t> 기간 선택 표시 및 조회 버튼</a:t>
            </a:r>
            <a:endParaRPr kumimoji="1" lang="en-US" altLang="ko-KR" dirty="0">
              <a:solidFill>
                <a:sysClr val="windowText" lastClr="000000"/>
              </a:solidFill>
            </a:endParaRPr>
          </a:p>
          <a:p>
            <a:pPr marL="342900" indent="-342900" algn="ctr">
              <a:buAutoNum type="arabicPeriod"/>
            </a:pPr>
            <a:r>
              <a:rPr kumimoji="1" lang="ko-KR" altLang="en-US" dirty="0">
                <a:solidFill>
                  <a:sysClr val="windowText" lastClr="000000"/>
                </a:solidFill>
              </a:rPr>
              <a:t>조회버튼을 누르면 수집 순위별로 현황을 그래프로 나타내기</a:t>
            </a:r>
            <a:endParaRPr kumimoji="1" lang="en-US" altLang="ko-KR" dirty="0">
              <a:solidFill>
                <a:sysClr val="windowText" lastClr="000000"/>
              </a:solidFill>
            </a:endParaRPr>
          </a:p>
          <a:p>
            <a:pPr marL="342900" indent="-342900" algn="ctr">
              <a:buAutoNum type="arabicPeriod"/>
            </a:pPr>
            <a:r>
              <a:rPr kumimoji="1" lang="ko-KR" altLang="en-US" dirty="0">
                <a:solidFill>
                  <a:sysClr val="windowText" lastClr="000000"/>
                </a:solidFill>
              </a:rPr>
              <a:t>순위를 누르면 오른쪽 창에 순위에 속한 기관들에 대한 수집 데이터를 </a:t>
            </a:r>
            <a:r>
              <a:rPr kumimoji="1" lang="ko-KR" altLang="en-US" dirty="0" err="1">
                <a:solidFill>
                  <a:sysClr val="windowText" lastClr="000000"/>
                </a:solidFill>
              </a:rPr>
              <a:t>막대바</a:t>
            </a:r>
            <a:r>
              <a:rPr kumimoji="1" lang="ko-KR" altLang="en-US" dirty="0">
                <a:solidFill>
                  <a:sysClr val="windowText" lastClr="000000"/>
                </a:solidFill>
              </a:rPr>
              <a:t> 형태로 표시</a:t>
            </a:r>
            <a:endParaRPr kumimoji="1"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867320-EBF6-033D-5230-78849B7B81F3}"/>
              </a:ext>
            </a:extLst>
          </p:cNvPr>
          <p:cNvSpPr/>
          <p:nvPr/>
        </p:nvSpPr>
        <p:spPr>
          <a:xfrm>
            <a:off x="5535827" y="3076832"/>
            <a:ext cx="6388443" cy="35340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수집 데이터 순위 세부 조회</a:t>
            </a:r>
            <a:endParaRPr kumimoji="1" lang="en-US" altLang="ko-K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 algn="ctr">
              <a:buAutoNum type="arabicPeriod"/>
            </a:pPr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좌측 창에서 순위를 클릭하면 이 창에서 순위에 속하는 기관들에 대한 수집 데이터를 막대바로 표시기</a:t>
            </a:r>
            <a:endParaRPr kumimoji="1" lang="en-US" altLang="ko-K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 algn="ctr">
              <a:buAutoNum type="arabicPeriod"/>
            </a:pPr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각 기관을 클릭하면 각 기관들에게서 수집한 데이터를 조회 및 수정할 수 있는 새로운 창으로 이동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2DCB77-A5DC-1A27-4853-9F015E38F252}"/>
              </a:ext>
            </a:extLst>
          </p:cNvPr>
          <p:cNvSpPr/>
          <p:nvPr/>
        </p:nvSpPr>
        <p:spPr>
          <a:xfrm>
            <a:off x="7191632" y="605481"/>
            <a:ext cx="976184" cy="5684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운영 맵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1B5E89C-81BB-010F-1AB4-D92C3DB49D89}"/>
              </a:ext>
            </a:extLst>
          </p:cNvPr>
          <p:cNvSpPr/>
          <p:nvPr/>
        </p:nvSpPr>
        <p:spPr>
          <a:xfrm>
            <a:off x="8279027" y="605481"/>
            <a:ext cx="864973" cy="5684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수집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80144F-233F-9A46-8FD9-7F7AC4338E1F}"/>
              </a:ext>
            </a:extLst>
          </p:cNvPr>
          <p:cNvSpPr/>
          <p:nvPr/>
        </p:nvSpPr>
        <p:spPr>
          <a:xfrm>
            <a:off x="9230187" y="605480"/>
            <a:ext cx="902043" cy="5684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ysClr val="windowText" lastClr="000000"/>
                </a:solidFill>
              </a:rPr>
              <a:t>검토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7FAE7E2-F56D-F03A-1E15-BC9AE43210EC}"/>
              </a:ext>
            </a:extLst>
          </p:cNvPr>
          <p:cNvSpPr/>
          <p:nvPr/>
        </p:nvSpPr>
        <p:spPr>
          <a:xfrm>
            <a:off x="10194118" y="605480"/>
            <a:ext cx="902043" cy="5684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34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67A9630-2144-B16D-46B7-EB136C3BC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504794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AB86B4E-0857-A856-A56A-D15788B0C9F2}"/>
              </a:ext>
            </a:extLst>
          </p:cNvPr>
          <p:cNvSpPr/>
          <p:nvPr/>
        </p:nvSpPr>
        <p:spPr>
          <a:xfrm>
            <a:off x="3612630" y="2398426"/>
            <a:ext cx="3672590" cy="359764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구부러진 연결선[U] 6">
            <a:extLst>
              <a:ext uri="{FF2B5EF4-FFF2-40B4-BE49-F238E27FC236}">
                <a16:creationId xmlns:a16="http://schemas.microsoft.com/office/drawing/2014/main" id="{6B1519D6-5B48-9C15-91EE-47A951C36A3E}"/>
              </a:ext>
            </a:extLst>
          </p:cNvPr>
          <p:cNvCxnSpPr/>
          <p:nvPr/>
        </p:nvCxnSpPr>
        <p:spPr>
          <a:xfrm rot="10800000">
            <a:off x="7285221" y="2578308"/>
            <a:ext cx="629587" cy="179882"/>
          </a:xfrm>
          <a:prstGeom prst="curvedConnector3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64469C2-1CE3-3854-2218-5C7BCF287842}"/>
              </a:ext>
            </a:extLst>
          </p:cNvPr>
          <p:cNvSpPr txBox="1"/>
          <p:nvPr/>
        </p:nvSpPr>
        <p:spPr>
          <a:xfrm>
            <a:off x="7914808" y="2523973"/>
            <a:ext cx="3627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클릭하면 로그 페이지가 아닌 각 기관에서 수집한 문서를 조회할 수 있는 게시판으로 연결</a:t>
            </a:r>
          </a:p>
        </p:txBody>
      </p:sp>
    </p:spTree>
    <p:extLst>
      <p:ext uri="{BB962C8B-B14F-4D97-AF65-F5344CB8AC3E}">
        <p14:creationId xmlns:p14="http://schemas.microsoft.com/office/powerpoint/2010/main" val="364908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4215A9-04F0-8CB0-E20D-CFE854504A36}"/>
              </a:ext>
            </a:extLst>
          </p:cNvPr>
          <p:cNvSpPr txBox="1"/>
          <p:nvPr/>
        </p:nvSpPr>
        <p:spPr>
          <a:xfrm>
            <a:off x="104931" y="134911"/>
            <a:ext cx="4287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각 기관에서 수집한 문서 게시판 예시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7718463-15DD-6303-DA1A-E04FB1553A3A}"/>
              </a:ext>
            </a:extLst>
          </p:cNvPr>
          <p:cNvSpPr/>
          <p:nvPr/>
        </p:nvSpPr>
        <p:spPr>
          <a:xfrm>
            <a:off x="104931" y="682053"/>
            <a:ext cx="10058400" cy="604103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9AD9EB-53FC-6DA3-88C0-EC10639BBBC6}"/>
              </a:ext>
            </a:extLst>
          </p:cNvPr>
          <p:cNvSpPr/>
          <p:nvPr/>
        </p:nvSpPr>
        <p:spPr>
          <a:xfrm>
            <a:off x="2358453" y="1267703"/>
            <a:ext cx="2033666" cy="5396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기관명을 인덱스로 선택 가능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90B219-7251-A8F2-1E0E-A59797A598F2}"/>
              </a:ext>
            </a:extLst>
          </p:cNvPr>
          <p:cNvSpPr/>
          <p:nvPr/>
        </p:nvSpPr>
        <p:spPr>
          <a:xfrm>
            <a:off x="389743" y="1896254"/>
            <a:ext cx="9548736" cy="4549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한 페이지에 문서 </a:t>
            </a:r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개씩 표시</a:t>
            </a:r>
            <a:endParaRPr kumimoji="1" lang="en-US" altLang="ko-K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항목 클릭 시 해당 문서의 항목들 볼 수 있는 상세 페이지 연결</a:t>
            </a:r>
            <a:endParaRPr kumimoji="1" lang="en-US" altLang="ko-K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064675-1E01-336F-3547-3C72D8731917}"/>
              </a:ext>
            </a:extLst>
          </p:cNvPr>
          <p:cNvSpPr/>
          <p:nvPr/>
        </p:nvSpPr>
        <p:spPr>
          <a:xfrm>
            <a:off x="557135" y="1969133"/>
            <a:ext cx="9216452" cy="5396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순번</a:t>
            </a:r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|</a:t>
            </a:r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수집일</a:t>
            </a:r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|</a:t>
            </a:r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원본문서 작성일</a:t>
            </a:r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|</a:t>
            </a:r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작성기관</a:t>
            </a:r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|</a:t>
            </a:r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문서제목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A52CC4-E275-7543-018E-F92D2B6D95B7}"/>
              </a:ext>
            </a:extLst>
          </p:cNvPr>
          <p:cNvSpPr/>
          <p:nvPr/>
        </p:nvSpPr>
        <p:spPr>
          <a:xfrm>
            <a:off x="5501389" y="1267703"/>
            <a:ext cx="2878113" cy="5396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조회 기간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F0E9F7-B990-B60D-9624-92E54331C1AB}"/>
              </a:ext>
            </a:extLst>
          </p:cNvPr>
          <p:cNvSpPr/>
          <p:nvPr/>
        </p:nvSpPr>
        <p:spPr>
          <a:xfrm>
            <a:off x="8484433" y="1267703"/>
            <a:ext cx="1454046" cy="5396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조회 버튼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3E2412-344C-02DB-F742-273516B161E4}"/>
              </a:ext>
            </a:extLst>
          </p:cNvPr>
          <p:cNvSpPr/>
          <p:nvPr/>
        </p:nvSpPr>
        <p:spPr>
          <a:xfrm>
            <a:off x="389744" y="1289154"/>
            <a:ext cx="1863777" cy="5396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도시를 인덱스로 선택 가능</a:t>
            </a:r>
          </a:p>
        </p:txBody>
      </p:sp>
    </p:spTree>
    <p:extLst>
      <p:ext uri="{BB962C8B-B14F-4D97-AF65-F5344CB8AC3E}">
        <p14:creationId xmlns:p14="http://schemas.microsoft.com/office/powerpoint/2010/main" val="384518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2080DD-277E-5C95-885E-B6E316E85AE5}"/>
              </a:ext>
            </a:extLst>
          </p:cNvPr>
          <p:cNvSpPr txBox="1"/>
          <p:nvPr/>
        </p:nvSpPr>
        <p:spPr>
          <a:xfrm>
            <a:off x="104931" y="0"/>
            <a:ext cx="4542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문서 상세 페이지 예시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2E1B10-284E-EE7A-DCE8-BE254D7EB888}"/>
              </a:ext>
            </a:extLst>
          </p:cNvPr>
          <p:cNvSpPr/>
          <p:nvPr/>
        </p:nvSpPr>
        <p:spPr>
          <a:xfrm>
            <a:off x="104931" y="682053"/>
            <a:ext cx="10058400" cy="604103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C194205-27E3-2E0C-2FF2-E0B453C8D506}"/>
              </a:ext>
            </a:extLst>
          </p:cNvPr>
          <p:cNvSpPr/>
          <p:nvPr/>
        </p:nvSpPr>
        <p:spPr>
          <a:xfrm>
            <a:off x="247338" y="1139253"/>
            <a:ext cx="4886793" cy="7195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문서 제목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C1D5AF-F51C-A32B-238E-10C97937AC4A}"/>
              </a:ext>
            </a:extLst>
          </p:cNvPr>
          <p:cNvSpPr/>
          <p:nvPr/>
        </p:nvSpPr>
        <p:spPr>
          <a:xfrm>
            <a:off x="247338" y="2038663"/>
            <a:ext cx="9751101" cy="38245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데이터베이스에 저장된 항목들 표시</a:t>
            </a:r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데이터베이스 항목을 수정 가능하게</a:t>
            </a:r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아래 표는 예시임</a:t>
            </a:r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kumimoji="1"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B692554-E753-387A-74A8-91F22ED3B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140212"/>
              </p:ext>
            </p:extLst>
          </p:nvPr>
        </p:nvGraphicFramePr>
        <p:xfrm>
          <a:off x="419724" y="4336987"/>
          <a:ext cx="9428814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646">
                  <a:extLst>
                    <a:ext uri="{9D8B030D-6E8A-4147-A177-3AD203B41FA5}">
                      <a16:colId xmlns:a16="http://schemas.microsoft.com/office/drawing/2014/main" val="1904126767"/>
                    </a:ext>
                  </a:extLst>
                </a:gridCol>
                <a:gridCol w="1047646">
                  <a:extLst>
                    <a:ext uri="{9D8B030D-6E8A-4147-A177-3AD203B41FA5}">
                      <a16:colId xmlns:a16="http://schemas.microsoft.com/office/drawing/2014/main" val="1407823101"/>
                    </a:ext>
                  </a:extLst>
                </a:gridCol>
                <a:gridCol w="1047646">
                  <a:extLst>
                    <a:ext uri="{9D8B030D-6E8A-4147-A177-3AD203B41FA5}">
                      <a16:colId xmlns:a16="http://schemas.microsoft.com/office/drawing/2014/main" val="3341187974"/>
                    </a:ext>
                  </a:extLst>
                </a:gridCol>
                <a:gridCol w="1047646">
                  <a:extLst>
                    <a:ext uri="{9D8B030D-6E8A-4147-A177-3AD203B41FA5}">
                      <a16:colId xmlns:a16="http://schemas.microsoft.com/office/drawing/2014/main" val="713278572"/>
                    </a:ext>
                  </a:extLst>
                </a:gridCol>
                <a:gridCol w="1047646">
                  <a:extLst>
                    <a:ext uri="{9D8B030D-6E8A-4147-A177-3AD203B41FA5}">
                      <a16:colId xmlns:a16="http://schemas.microsoft.com/office/drawing/2014/main" val="736759904"/>
                    </a:ext>
                  </a:extLst>
                </a:gridCol>
                <a:gridCol w="1047646">
                  <a:extLst>
                    <a:ext uri="{9D8B030D-6E8A-4147-A177-3AD203B41FA5}">
                      <a16:colId xmlns:a16="http://schemas.microsoft.com/office/drawing/2014/main" val="3124691411"/>
                    </a:ext>
                  </a:extLst>
                </a:gridCol>
                <a:gridCol w="1047646">
                  <a:extLst>
                    <a:ext uri="{9D8B030D-6E8A-4147-A177-3AD203B41FA5}">
                      <a16:colId xmlns:a16="http://schemas.microsoft.com/office/drawing/2014/main" val="2520652101"/>
                    </a:ext>
                  </a:extLst>
                </a:gridCol>
                <a:gridCol w="1047646">
                  <a:extLst>
                    <a:ext uri="{9D8B030D-6E8A-4147-A177-3AD203B41FA5}">
                      <a16:colId xmlns:a16="http://schemas.microsoft.com/office/drawing/2014/main" val="4013539632"/>
                    </a:ext>
                  </a:extLst>
                </a:gridCol>
                <a:gridCol w="1047646">
                  <a:extLst>
                    <a:ext uri="{9D8B030D-6E8A-4147-A177-3AD203B41FA5}">
                      <a16:colId xmlns:a16="http://schemas.microsoft.com/office/drawing/2014/main" val="2340798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순번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원문 상호명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보정 상호명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원문 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보정상호명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반려 사유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검토의견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254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077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95820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15D22ABD-D929-E084-0B39-F9A3421C0400}"/>
              </a:ext>
            </a:extLst>
          </p:cNvPr>
          <p:cNvSpPr/>
          <p:nvPr/>
        </p:nvSpPr>
        <p:spPr>
          <a:xfrm>
            <a:off x="8349521" y="6043107"/>
            <a:ext cx="1648918" cy="5157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DB </a:t>
            </a:r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업데이트</a:t>
            </a:r>
          </a:p>
        </p:txBody>
      </p:sp>
    </p:spTree>
    <p:extLst>
      <p:ext uri="{BB962C8B-B14F-4D97-AF65-F5344CB8AC3E}">
        <p14:creationId xmlns:p14="http://schemas.microsoft.com/office/powerpoint/2010/main" val="799100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ACADCE7-384A-4F76-88AC-5941C6D4D691}"/>
              </a:ext>
            </a:extLst>
          </p:cNvPr>
          <p:cNvSpPr txBox="1"/>
          <p:nvPr/>
        </p:nvSpPr>
        <p:spPr>
          <a:xfrm>
            <a:off x="0" y="0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기관별 수집 검증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539699-282B-8425-C1DB-2C4F7C119926}"/>
              </a:ext>
            </a:extLst>
          </p:cNvPr>
          <p:cNvSpPr/>
          <p:nvPr/>
        </p:nvSpPr>
        <p:spPr>
          <a:xfrm>
            <a:off x="100013" y="369332"/>
            <a:ext cx="11958637" cy="632964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19904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ACE8D5-7CA2-AC7C-BDF0-63152757E73E}"/>
              </a:ext>
            </a:extLst>
          </p:cNvPr>
          <p:cNvSpPr txBox="1"/>
          <p:nvPr/>
        </p:nvSpPr>
        <p:spPr>
          <a:xfrm>
            <a:off x="0" y="0"/>
            <a:ext cx="313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수집 검증 순서 및 화면 예시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96193D-1E22-37AF-2CB3-B1F9EBC8039D}"/>
              </a:ext>
            </a:extLst>
          </p:cNvPr>
          <p:cNvSpPr/>
          <p:nvPr/>
        </p:nvSpPr>
        <p:spPr>
          <a:xfrm>
            <a:off x="100013" y="369332"/>
            <a:ext cx="11958637" cy="275963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AE2A45-E3AB-1688-FAB9-0A609F3B6B52}"/>
              </a:ext>
            </a:extLst>
          </p:cNvPr>
          <p:cNvSpPr/>
          <p:nvPr/>
        </p:nvSpPr>
        <p:spPr>
          <a:xfrm>
            <a:off x="100013" y="442762"/>
            <a:ext cx="1170522" cy="295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100" dirty="0"/>
              <a:t>수집 기간 </a:t>
            </a:r>
            <a:r>
              <a:rPr kumimoji="1" lang="ko-KR" altLang="en-US" sz="1000" dirty="0"/>
              <a:t>설정</a:t>
            </a:r>
            <a:endParaRPr kumimoji="1" lang="ko-KR" altLang="en-US" sz="11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6A5442E-67B0-513F-B7CC-D12E9B41A44F}"/>
              </a:ext>
            </a:extLst>
          </p:cNvPr>
          <p:cNvSpPr/>
          <p:nvPr/>
        </p:nvSpPr>
        <p:spPr>
          <a:xfrm>
            <a:off x="1475874" y="430655"/>
            <a:ext cx="2749617" cy="442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목록 가져오기 버튼 클릭 시 설정된 기간에 해당하는 게시물 제목만 모두 가져와서 표로 보여주기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33CF13-75A8-60B2-84B3-5E0A696777C2}"/>
              </a:ext>
            </a:extLst>
          </p:cNvPr>
          <p:cNvSpPr/>
          <p:nvPr/>
        </p:nvSpPr>
        <p:spPr>
          <a:xfrm>
            <a:off x="4430830" y="430654"/>
            <a:ext cx="1453414" cy="308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문서 </a:t>
            </a:r>
            <a:r>
              <a:rPr kumimoji="1" lang="ko-KR" altLang="en-US" sz="1000" dirty="0" err="1"/>
              <a:t>크롤링을</a:t>
            </a:r>
            <a:r>
              <a:rPr kumimoji="1" lang="ko-KR" altLang="en-US" sz="1000" dirty="0"/>
              <a:t> 얼마나 할지 배치 설정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5D034B-7F95-B621-C0DC-41EF095E8985}"/>
              </a:ext>
            </a:extLst>
          </p:cNvPr>
          <p:cNvSpPr/>
          <p:nvPr/>
        </p:nvSpPr>
        <p:spPr>
          <a:xfrm>
            <a:off x="6025966" y="430654"/>
            <a:ext cx="1577992" cy="308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수집 클릭 시 해당 배치만큼 문서 </a:t>
            </a:r>
            <a:r>
              <a:rPr kumimoji="1" lang="ko-KR" altLang="en-US" sz="1000" dirty="0" err="1"/>
              <a:t>크롤링</a:t>
            </a:r>
            <a:r>
              <a:rPr kumimoji="1" lang="ko-KR" altLang="en-US" sz="1000" dirty="0"/>
              <a:t> 실시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F9A7009-9F4B-8174-2992-912F55BDBF03}"/>
              </a:ext>
            </a:extLst>
          </p:cNvPr>
          <p:cNvSpPr/>
          <p:nvPr/>
        </p:nvSpPr>
        <p:spPr>
          <a:xfrm>
            <a:off x="7745680" y="430653"/>
            <a:ext cx="2235718" cy="308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수집 성공 시 검증 페이지로 이동</a:t>
            </a:r>
            <a:endParaRPr kumimoji="1" lang="en-US" altLang="ko-KR" sz="1000" dirty="0"/>
          </a:p>
          <a:p>
            <a:pPr algn="ctr"/>
            <a:r>
              <a:rPr kumimoji="1" lang="ko-KR" altLang="en-US" sz="1000" dirty="0"/>
              <a:t>수집 실패 시 </a:t>
            </a:r>
            <a:r>
              <a:rPr kumimoji="1" lang="ko-KR" altLang="en-US" sz="1000" dirty="0" err="1"/>
              <a:t>재수집</a:t>
            </a:r>
            <a:r>
              <a:rPr kumimoji="1" lang="ko-KR" altLang="en-US" sz="1000" dirty="0"/>
              <a:t> 페이지로 이동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F8FD3B-843F-383B-C115-B9B2BA5287C2}"/>
              </a:ext>
            </a:extLst>
          </p:cNvPr>
          <p:cNvSpPr/>
          <p:nvPr/>
        </p:nvSpPr>
        <p:spPr>
          <a:xfrm>
            <a:off x="10215061" y="430653"/>
            <a:ext cx="1106905" cy="297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검증을 얼마나 할지 배치 설정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A9109A-88BE-74A2-B6BF-85CE1F36199F}"/>
              </a:ext>
            </a:extLst>
          </p:cNvPr>
          <p:cNvSpPr/>
          <p:nvPr/>
        </p:nvSpPr>
        <p:spPr>
          <a:xfrm>
            <a:off x="8412480" y="981775"/>
            <a:ext cx="2909486" cy="442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/>
              <a:t>배치 클릭 시 검증 실행 검증 결과에 따라 승인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수동검토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반려 페이지로 해당 항목 이동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51A5A3A-05C9-55F9-8CB2-7F3880C8D1B9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270535" y="590713"/>
            <a:ext cx="205339" cy="61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456E946-0AAC-9B84-54EF-09B283C8AEF6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4225491" y="584659"/>
            <a:ext cx="205339" cy="67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773823A-3BB7-7949-094A-78C8EF551927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5884244" y="584659"/>
            <a:ext cx="1417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0E88A59-99D6-E19B-9199-74938A67A0EB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7603958" y="584658"/>
            <a:ext cx="14172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A15BA66-EE51-BC63-C434-901ECA38438E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flipV="1">
            <a:off x="9981398" y="579300"/>
            <a:ext cx="233663" cy="5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[E] 23">
            <a:extLst>
              <a:ext uri="{FF2B5EF4-FFF2-40B4-BE49-F238E27FC236}">
                <a16:creationId xmlns:a16="http://schemas.microsoft.com/office/drawing/2014/main" id="{A7DEBD66-A3C6-853A-77D7-EE4DA2C47FBB}"/>
              </a:ext>
            </a:extLst>
          </p:cNvPr>
          <p:cNvCxnSpPr>
            <a:stCxn id="11" idx="3"/>
            <a:endCxn id="12" idx="3"/>
          </p:cNvCxnSpPr>
          <p:nvPr/>
        </p:nvCxnSpPr>
        <p:spPr>
          <a:xfrm>
            <a:off x="11321966" y="579300"/>
            <a:ext cx="12700" cy="62385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445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A089F2-C169-2DC4-3057-2BF832982204}"/>
              </a:ext>
            </a:extLst>
          </p:cNvPr>
          <p:cNvSpPr txBox="1"/>
          <p:nvPr/>
        </p:nvSpPr>
        <p:spPr>
          <a:xfrm>
            <a:off x="0" y="0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수집 목록 페이지 예시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7A15A0-A24D-C37A-F67C-09BE9A433B29}"/>
              </a:ext>
            </a:extLst>
          </p:cNvPr>
          <p:cNvSpPr/>
          <p:nvPr/>
        </p:nvSpPr>
        <p:spPr>
          <a:xfrm>
            <a:off x="70585" y="369332"/>
            <a:ext cx="12050829" cy="633947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ECAE30-9F99-6C9A-3669-7D0B8A1D192A}"/>
              </a:ext>
            </a:extLst>
          </p:cNvPr>
          <p:cNvSpPr/>
          <p:nvPr/>
        </p:nvSpPr>
        <p:spPr>
          <a:xfrm>
            <a:off x="2726077" y="1238536"/>
            <a:ext cx="4181581" cy="4417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수집 기간 설정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2F1A8B-6A11-EAD3-9744-89BB623DE91F}"/>
              </a:ext>
            </a:extLst>
          </p:cNvPr>
          <p:cNvSpPr/>
          <p:nvPr/>
        </p:nvSpPr>
        <p:spPr>
          <a:xfrm>
            <a:off x="6978242" y="1228260"/>
            <a:ext cx="2097551" cy="4315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목록 가져오기 버튼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4DAF596-8507-12BD-4713-EE1CE9F08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729262"/>
              </p:ext>
            </p:extLst>
          </p:nvPr>
        </p:nvGraphicFramePr>
        <p:xfrm>
          <a:off x="168381" y="1849822"/>
          <a:ext cx="11718820" cy="4638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019">
                  <a:extLst>
                    <a:ext uri="{9D8B030D-6E8A-4147-A177-3AD203B41FA5}">
                      <a16:colId xmlns:a16="http://schemas.microsoft.com/office/drawing/2014/main" val="36234800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776109150"/>
                    </a:ext>
                  </a:extLst>
                </a:gridCol>
                <a:gridCol w="4839128">
                  <a:extLst>
                    <a:ext uri="{9D8B030D-6E8A-4147-A177-3AD203B41FA5}">
                      <a16:colId xmlns:a16="http://schemas.microsoft.com/office/drawing/2014/main" val="1578875566"/>
                    </a:ext>
                  </a:extLst>
                </a:gridCol>
                <a:gridCol w="1859623">
                  <a:extLst>
                    <a:ext uri="{9D8B030D-6E8A-4147-A177-3AD203B41FA5}">
                      <a16:colId xmlns:a16="http://schemas.microsoft.com/office/drawing/2014/main" val="788541855"/>
                    </a:ext>
                  </a:extLst>
                </a:gridCol>
                <a:gridCol w="2445250">
                  <a:extLst>
                    <a:ext uri="{9D8B030D-6E8A-4147-A177-3AD203B41FA5}">
                      <a16:colId xmlns:a16="http://schemas.microsoft.com/office/drawing/2014/main" val="608832084"/>
                    </a:ext>
                  </a:extLst>
                </a:gridCol>
              </a:tblGrid>
              <a:tr h="7731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순번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작성일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수집할 때 보여줄 게이지바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수집 성공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실패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397861"/>
                  </a:ext>
                </a:extLst>
              </a:tr>
              <a:tr h="77314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행은 페이지 없이 스크롤로 볼 수 있게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성공 시 배치 종료 후 검증 페이지로 이동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831403"/>
                  </a:ext>
                </a:extLst>
              </a:tr>
              <a:tr h="77314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실패 시 배치 종료 후 </a:t>
                      </a:r>
                      <a:r>
                        <a:rPr lang="ko-KR" altLang="en-US" dirty="0" err="1"/>
                        <a:t>재수집</a:t>
                      </a:r>
                      <a:r>
                        <a:rPr lang="ko-KR" altLang="en-US" dirty="0"/>
                        <a:t> 페이지로 이동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749180"/>
                  </a:ext>
                </a:extLst>
              </a:tr>
              <a:tr h="77314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59851"/>
                  </a:ext>
                </a:extLst>
              </a:tr>
              <a:tr h="77314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907293"/>
                  </a:ext>
                </a:extLst>
              </a:tr>
              <a:tr h="77314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608904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AC99DB6A-E13F-92CF-9D46-BB1412738ABE}"/>
              </a:ext>
            </a:extLst>
          </p:cNvPr>
          <p:cNvSpPr/>
          <p:nvPr/>
        </p:nvSpPr>
        <p:spPr>
          <a:xfrm>
            <a:off x="9146379" y="1228259"/>
            <a:ext cx="1530850" cy="4315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배치 크기 설정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790CE48-0D7B-B49F-15B5-E8810D517B4A}"/>
              </a:ext>
            </a:extLst>
          </p:cNvPr>
          <p:cNvSpPr/>
          <p:nvPr/>
        </p:nvSpPr>
        <p:spPr>
          <a:xfrm>
            <a:off x="10747814" y="1218473"/>
            <a:ext cx="1139386" cy="4315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수집 버튼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A945CB-7950-DE03-8F1F-C01EA486FBA1}"/>
              </a:ext>
            </a:extLst>
          </p:cNvPr>
          <p:cNvSpPr txBox="1"/>
          <p:nvPr/>
        </p:nvSpPr>
        <p:spPr>
          <a:xfrm>
            <a:off x="7355420" y="61555"/>
            <a:ext cx="48365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/>
              <a:t>* 목록 가져오기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수집을 완료하면 팝업창으로 결과 띄우기</a:t>
            </a:r>
          </a:p>
        </p:txBody>
      </p:sp>
    </p:spTree>
    <p:extLst>
      <p:ext uri="{BB962C8B-B14F-4D97-AF65-F5344CB8AC3E}">
        <p14:creationId xmlns:p14="http://schemas.microsoft.com/office/powerpoint/2010/main" val="3089703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E4440E-1954-7F3C-13F4-F5055F14370F}"/>
              </a:ext>
            </a:extLst>
          </p:cNvPr>
          <p:cNvSpPr txBox="1"/>
          <p:nvPr/>
        </p:nvSpPr>
        <p:spPr>
          <a:xfrm>
            <a:off x="0" y="0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검증 페이지 예시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876888-7AEB-A551-8753-7809C479E47C}"/>
              </a:ext>
            </a:extLst>
          </p:cNvPr>
          <p:cNvSpPr/>
          <p:nvPr/>
        </p:nvSpPr>
        <p:spPr>
          <a:xfrm>
            <a:off x="60311" y="365180"/>
            <a:ext cx="12050829" cy="633947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DDC665-191E-28C6-1BC1-6A624BDACBE4}"/>
              </a:ext>
            </a:extLst>
          </p:cNvPr>
          <p:cNvSpPr/>
          <p:nvPr/>
        </p:nvSpPr>
        <p:spPr>
          <a:xfrm>
            <a:off x="5867787" y="1179408"/>
            <a:ext cx="1530850" cy="4315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배치 크기 설정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60E79F-378B-C90D-2D99-6620C31780DE}"/>
              </a:ext>
            </a:extLst>
          </p:cNvPr>
          <p:cNvSpPr/>
          <p:nvPr/>
        </p:nvSpPr>
        <p:spPr>
          <a:xfrm>
            <a:off x="7469222" y="1169622"/>
            <a:ext cx="1139386" cy="4315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검증 버튼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2A7D4E-5119-875A-5DD0-CC4BFB1BC02B}"/>
              </a:ext>
            </a:extLst>
          </p:cNvPr>
          <p:cNvSpPr txBox="1"/>
          <p:nvPr/>
        </p:nvSpPr>
        <p:spPr>
          <a:xfrm>
            <a:off x="5551987" y="61555"/>
            <a:ext cx="6569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/>
              <a:t>* 수집 페이지에서는 문서 제목이었다면 검증 페이지에서는 크롤링한 항목 표시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0D531BE-10DE-CE69-764A-2973C58CA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552199"/>
              </p:ext>
            </p:extLst>
          </p:nvPr>
        </p:nvGraphicFramePr>
        <p:xfrm>
          <a:off x="172376" y="1767629"/>
          <a:ext cx="8436232" cy="4838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757">
                  <a:extLst>
                    <a:ext uri="{9D8B030D-6E8A-4147-A177-3AD203B41FA5}">
                      <a16:colId xmlns:a16="http://schemas.microsoft.com/office/drawing/2014/main" val="4071521384"/>
                    </a:ext>
                  </a:extLst>
                </a:gridCol>
                <a:gridCol w="1181757">
                  <a:extLst>
                    <a:ext uri="{9D8B030D-6E8A-4147-A177-3AD203B41FA5}">
                      <a16:colId xmlns:a16="http://schemas.microsoft.com/office/drawing/2014/main" val="1732119088"/>
                    </a:ext>
                  </a:extLst>
                </a:gridCol>
                <a:gridCol w="1181757">
                  <a:extLst>
                    <a:ext uri="{9D8B030D-6E8A-4147-A177-3AD203B41FA5}">
                      <a16:colId xmlns:a16="http://schemas.microsoft.com/office/drawing/2014/main" val="2710072757"/>
                    </a:ext>
                  </a:extLst>
                </a:gridCol>
                <a:gridCol w="1181757">
                  <a:extLst>
                    <a:ext uri="{9D8B030D-6E8A-4147-A177-3AD203B41FA5}">
                      <a16:colId xmlns:a16="http://schemas.microsoft.com/office/drawing/2014/main" val="35787783"/>
                    </a:ext>
                  </a:extLst>
                </a:gridCol>
                <a:gridCol w="1181757">
                  <a:extLst>
                    <a:ext uri="{9D8B030D-6E8A-4147-A177-3AD203B41FA5}">
                      <a16:colId xmlns:a16="http://schemas.microsoft.com/office/drawing/2014/main" val="4010239775"/>
                    </a:ext>
                  </a:extLst>
                </a:gridCol>
                <a:gridCol w="1345690">
                  <a:extLst>
                    <a:ext uri="{9D8B030D-6E8A-4147-A177-3AD203B41FA5}">
                      <a16:colId xmlns:a16="http://schemas.microsoft.com/office/drawing/2014/main" val="3533256353"/>
                    </a:ext>
                  </a:extLst>
                </a:gridCol>
                <a:gridCol w="1181757">
                  <a:extLst>
                    <a:ext uri="{9D8B030D-6E8A-4147-A177-3AD203B41FA5}">
                      <a16:colId xmlns:a16="http://schemas.microsoft.com/office/drawing/2014/main" val="4237943646"/>
                    </a:ext>
                  </a:extLst>
                </a:gridCol>
              </a:tblGrid>
              <a:tr h="6048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순번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문서 작성일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방문일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원문 </a:t>
                      </a:r>
                      <a:r>
                        <a:rPr lang="ko-KR" altLang="en-US" sz="1400" dirty="0" err="1"/>
                        <a:t>가게명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원문 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검증할 때 보여줄 게이지바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검증 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443797"/>
                  </a:ext>
                </a:extLst>
              </a:tr>
              <a:tr h="60483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승인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278478"/>
                  </a:ext>
                </a:extLst>
              </a:tr>
              <a:tr h="60483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수동검토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436133"/>
                  </a:ext>
                </a:extLst>
              </a:tr>
              <a:tr h="60483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반려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136799"/>
                  </a:ext>
                </a:extLst>
              </a:tr>
              <a:tr h="60483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03936"/>
                  </a:ext>
                </a:extLst>
              </a:tr>
              <a:tr h="60483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251570"/>
                  </a:ext>
                </a:extLst>
              </a:tr>
              <a:tr h="60483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279372"/>
                  </a:ext>
                </a:extLst>
              </a:tr>
              <a:tr h="60483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394583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8641363A-FFFA-6119-1923-534D258A87CB}"/>
              </a:ext>
            </a:extLst>
          </p:cNvPr>
          <p:cNvSpPr/>
          <p:nvPr/>
        </p:nvSpPr>
        <p:spPr>
          <a:xfrm>
            <a:off x="8702211" y="1169622"/>
            <a:ext cx="3318553" cy="5436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ko-KR" altLang="en-US" dirty="0"/>
              <a:t>검증할 때 실시간으로 상태를 보여줄 로그 창</a:t>
            </a:r>
            <a:endParaRPr kumimoji="1" lang="en-US" altLang="ko-KR" dirty="0"/>
          </a:p>
          <a:p>
            <a:r>
              <a:rPr kumimoji="1" lang="ko-KR" altLang="en-US" dirty="0"/>
              <a:t>순번</a:t>
            </a:r>
            <a:r>
              <a:rPr kumimoji="1" lang="en-US" altLang="ko-KR" dirty="0"/>
              <a:t>/</a:t>
            </a:r>
            <a:r>
              <a:rPr kumimoji="1" lang="ko-KR" altLang="en-US" dirty="0" err="1"/>
              <a:t>가게명</a:t>
            </a:r>
            <a:r>
              <a:rPr kumimoji="1" lang="en-US" altLang="ko-KR" dirty="0"/>
              <a:t>/</a:t>
            </a:r>
            <a:r>
              <a:rPr kumimoji="1" lang="ko-KR" altLang="en-US" dirty="0"/>
              <a:t>상태</a:t>
            </a:r>
            <a:endParaRPr kumimoji="1" lang="en-US" altLang="ko-KR" dirty="0"/>
          </a:p>
          <a:p>
            <a:r>
              <a:rPr kumimoji="1" lang="ko-KR" altLang="en-US" dirty="0"/>
              <a:t>*상태에는 </a:t>
            </a:r>
            <a:r>
              <a:rPr kumimoji="1" lang="ko-KR" altLang="en-US" dirty="0" err="1"/>
              <a:t>검증할때는</a:t>
            </a:r>
            <a:r>
              <a:rPr kumimoji="1" lang="ko-KR" altLang="en-US" dirty="0"/>
              <a:t> 검증 중 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표시 검증 이후에는 승인</a:t>
            </a:r>
            <a:r>
              <a:rPr kumimoji="1" lang="en-US" altLang="ko-KR" dirty="0"/>
              <a:t>/</a:t>
            </a:r>
            <a:r>
              <a:rPr kumimoji="1" lang="ko-KR" altLang="en-US" dirty="0"/>
              <a:t>수동검토</a:t>
            </a:r>
            <a:r>
              <a:rPr kumimoji="1" lang="en-US" altLang="ko-KR" dirty="0"/>
              <a:t>/</a:t>
            </a:r>
            <a:r>
              <a:rPr kumimoji="1" lang="ko-KR" altLang="en-US" dirty="0"/>
              <a:t>반려로 변경</a:t>
            </a:r>
            <a:r>
              <a:rPr kumimoji="1" lang="en-US" altLang="ko-KR" dirty="0"/>
              <a:t>.</a:t>
            </a:r>
            <a:r>
              <a:rPr kumimoji="1" lang="ko-KR" altLang="en-US" dirty="0"/>
              <a:t> 승인은 초록색</a:t>
            </a:r>
            <a:r>
              <a:rPr kumimoji="1" lang="en-US" altLang="ko-KR" dirty="0"/>
              <a:t>,</a:t>
            </a:r>
            <a:r>
              <a:rPr kumimoji="1" lang="ko-KR" altLang="en-US" dirty="0"/>
              <a:t> 수동검토는 파란색</a:t>
            </a:r>
            <a:r>
              <a:rPr kumimoji="1" lang="en-US" altLang="ko-KR" dirty="0"/>
              <a:t>,</a:t>
            </a:r>
            <a:r>
              <a:rPr kumimoji="1" lang="ko-KR" altLang="en-US" dirty="0"/>
              <a:t> 반려는 빨간색으로 표시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*로그 창은 스크롤해서 내리면 화면에 보이게 같이 이동</a:t>
            </a:r>
            <a:r>
              <a:rPr kumimoji="1"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9540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0B656E-1CB5-E306-9B84-392B0A513202}"/>
              </a:ext>
            </a:extLst>
          </p:cNvPr>
          <p:cNvSpPr txBox="1"/>
          <p:nvPr/>
        </p:nvSpPr>
        <p:spPr>
          <a:xfrm>
            <a:off x="0" y="0"/>
            <a:ext cx="2345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DB</a:t>
            </a:r>
            <a:r>
              <a:rPr kumimoji="1" lang="ko-KR" altLang="en-US" dirty="0"/>
              <a:t> 조회 페이지 예시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C26088-5507-216D-C15C-6D7706918C74}"/>
              </a:ext>
            </a:extLst>
          </p:cNvPr>
          <p:cNvSpPr/>
          <p:nvPr/>
        </p:nvSpPr>
        <p:spPr>
          <a:xfrm>
            <a:off x="60311" y="365180"/>
            <a:ext cx="12050829" cy="633947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15446D-B2A5-E51B-CBF3-99BBB8DD5E6A}"/>
              </a:ext>
            </a:extLst>
          </p:cNvPr>
          <p:cNvSpPr/>
          <p:nvPr/>
        </p:nvSpPr>
        <p:spPr>
          <a:xfrm>
            <a:off x="256854" y="1387012"/>
            <a:ext cx="1366463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승인 버튼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2DFCC2-A153-7017-B9CC-958C06489D6B}"/>
              </a:ext>
            </a:extLst>
          </p:cNvPr>
          <p:cNvSpPr/>
          <p:nvPr/>
        </p:nvSpPr>
        <p:spPr>
          <a:xfrm>
            <a:off x="1683628" y="1387012"/>
            <a:ext cx="166574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수동 검토버튼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F3F23D-B57C-9F0D-3C25-34E261D89AAE}"/>
              </a:ext>
            </a:extLst>
          </p:cNvPr>
          <p:cNvSpPr/>
          <p:nvPr/>
        </p:nvSpPr>
        <p:spPr>
          <a:xfrm>
            <a:off x="3409686" y="1387012"/>
            <a:ext cx="166574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반려 버튼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3C66EB33-EE03-E369-A3F3-2CF7283D3517}"/>
              </a:ext>
            </a:extLst>
          </p:cNvPr>
          <p:cNvSpPr/>
          <p:nvPr/>
        </p:nvSpPr>
        <p:spPr>
          <a:xfrm>
            <a:off x="174661" y="1212351"/>
            <a:ext cx="4961083" cy="7089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42806E-1BD0-E762-FCC4-0D174A1A652F}"/>
              </a:ext>
            </a:extLst>
          </p:cNvPr>
          <p:cNvSpPr txBox="1"/>
          <p:nvPr/>
        </p:nvSpPr>
        <p:spPr>
          <a:xfrm>
            <a:off x="2828262" y="460957"/>
            <a:ext cx="65149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카테고리처럼 버튼을 클릭하면 그에 해당하는 </a:t>
            </a:r>
            <a:r>
              <a:rPr kumimoji="1" lang="en-US" altLang="ko-KR" dirty="0"/>
              <a:t>DB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보여주기</a:t>
            </a:r>
            <a:endParaRPr kumimoji="1" lang="en-US" altLang="ko-KR" dirty="0"/>
          </a:p>
          <a:p>
            <a:r>
              <a:rPr kumimoji="1" lang="ko-KR" altLang="en-US" dirty="0"/>
              <a:t>버튼을 누르면 옆으로 넘어가는 모션을 부드럽게 보여주기</a:t>
            </a:r>
          </a:p>
        </p:txBody>
      </p:sp>
      <p:cxnSp>
        <p:nvCxnSpPr>
          <p:cNvPr id="14" name="꺾인 연결선[E] 13">
            <a:extLst>
              <a:ext uri="{FF2B5EF4-FFF2-40B4-BE49-F238E27FC236}">
                <a16:creationId xmlns:a16="http://schemas.microsoft.com/office/drawing/2014/main" id="{EAADC8CC-06D8-EB4E-F901-DFB931840609}"/>
              </a:ext>
            </a:extLst>
          </p:cNvPr>
          <p:cNvCxnSpPr>
            <a:stCxn id="12" idx="1"/>
            <a:endCxn id="9" idx="0"/>
          </p:cNvCxnSpPr>
          <p:nvPr/>
        </p:nvCxnSpPr>
        <p:spPr>
          <a:xfrm rot="10800000" flipV="1">
            <a:off x="2655204" y="784123"/>
            <a:ext cx="173059" cy="42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FDABFED4-3BC8-4234-CBFE-8DDAE1239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61" y="2055976"/>
            <a:ext cx="11337488" cy="44368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D2CCB40-5B16-C5A5-B838-41D6CC2CF7C8}"/>
              </a:ext>
            </a:extLst>
          </p:cNvPr>
          <p:cNvSpPr txBox="1"/>
          <p:nvPr/>
        </p:nvSpPr>
        <p:spPr>
          <a:xfrm>
            <a:off x="7056258" y="1613043"/>
            <a:ext cx="3118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보여주는건</a:t>
            </a:r>
            <a:r>
              <a:rPr kumimoji="1" lang="ko-KR" altLang="en-US" dirty="0"/>
              <a:t> 기존의 방식유지</a:t>
            </a:r>
          </a:p>
        </p:txBody>
      </p:sp>
      <p:cxnSp>
        <p:nvCxnSpPr>
          <p:cNvPr id="18" name="꺾인 연결선[E] 17">
            <a:extLst>
              <a:ext uri="{FF2B5EF4-FFF2-40B4-BE49-F238E27FC236}">
                <a16:creationId xmlns:a16="http://schemas.microsoft.com/office/drawing/2014/main" id="{203C6463-AF51-7EB3-3730-1EA5CEA82A8A}"/>
              </a:ext>
            </a:extLst>
          </p:cNvPr>
          <p:cNvCxnSpPr>
            <a:stCxn id="16" idx="1"/>
            <a:endCxn id="15" idx="0"/>
          </p:cNvCxnSpPr>
          <p:nvPr/>
        </p:nvCxnSpPr>
        <p:spPr>
          <a:xfrm rot="10800000" flipV="1">
            <a:off x="5843406" y="1797708"/>
            <a:ext cx="1212853" cy="25826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38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403731-72AC-AB18-A082-BD47E946CBE5}"/>
              </a:ext>
            </a:extLst>
          </p:cNvPr>
          <p:cNvSpPr txBox="1"/>
          <p:nvPr/>
        </p:nvSpPr>
        <p:spPr>
          <a:xfrm>
            <a:off x="0" y="0"/>
            <a:ext cx="4581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26.</a:t>
            </a:r>
            <a:r>
              <a:rPr kumimoji="1" lang="ko-KR" altLang="en-US" dirty="0"/>
              <a:t> </a:t>
            </a:r>
            <a:r>
              <a:rPr kumimoji="1" lang="en-US" altLang="ko-KR" dirty="0"/>
              <a:t>6.</a:t>
            </a:r>
            <a:r>
              <a:rPr kumimoji="1" lang="ko-KR" altLang="en-US" dirty="0"/>
              <a:t> </a:t>
            </a:r>
            <a:r>
              <a:rPr kumimoji="1" lang="en-US" altLang="ko-KR" dirty="0"/>
              <a:t>30.(</a:t>
            </a:r>
            <a:r>
              <a:rPr kumimoji="1" lang="ko-KR" altLang="en-US" dirty="0"/>
              <a:t>화</a:t>
            </a:r>
            <a:r>
              <a:rPr kumimoji="1" lang="en-US" altLang="ko-KR" dirty="0"/>
              <a:t>)</a:t>
            </a:r>
            <a:r>
              <a:rPr kumimoji="1" lang="ko-KR" altLang="en-US" dirty="0"/>
              <a:t> 수집 검증 페이지 수정 사항</a:t>
            </a:r>
            <a:r>
              <a:rPr kumimoji="1" lang="en-US" altLang="ko-KR" dirty="0"/>
              <a:t>1</a:t>
            </a:r>
            <a:endParaRPr kumimoji="1"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7FABEF-178D-666F-70A8-883EF8F3604D}"/>
              </a:ext>
            </a:extLst>
          </p:cNvPr>
          <p:cNvSpPr/>
          <p:nvPr/>
        </p:nvSpPr>
        <p:spPr>
          <a:xfrm>
            <a:off x="60311" y="365180"/>
            <a:ext cx="12050829" cy="633947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ysClr val="windowText" lastClr="000000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0F38013-B7ED-9692-44D2-78DCB6C02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0" y="1570948"/>
            <a:ext cx="7772400" cy="5047947"/>
          </a:xfrm>
          <a:prstGeom prst="rect">
            <a:avLst/>
          </a:prstGeom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FD5D10E3-5F2A-85C6-64D1-EB4D95132ECF}"/>
              </a:ext>
            </a:extLst>
          </p:cNvPr>
          <p:cNvSpPr/>
          <p:nvPr/>
        </p:nvSpPr>
        <p:spPr>
          <a:xfrm>
            <a:off x="3438939" y="4830417"/>
            <a:ext cx="2657061" cy="176916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66D7B66-2708-A10B-ECCC-2648046B5576}"/>
              </a:ext>
            </a:extLst>
          </p:cNvPr>
          <p:cNvSpPr/>
          <p:nvPr/>
        </p:nvSpPr>
        <p:spPr>
          <a:xfrm>
            <a:off x="7880160" y="5134844"/>
            <a:ext cx="3855036" cy="7752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</a:t>
            </a:r>
            <a:r>
              <a:rPr kumimoji="1"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ko-KR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‘</a:t>
            </a:r>
            <a:r>
              <a:rPr kumimoji="1" lang="ko-KR" altLang="en-US" sz="1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크롤링</a:t>
            </a:r>
            <a:r>
              <a:rPr kumimoji="1"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항목 상태</a:t>
            </a:r>
            <a:r>
              <a:rPr kumimoji="1" lang="en-US" altLang="ko-KR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</a:t>
            </a:r>
            <a:r>
              <a:rPr kumimoji="1"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en-US" altLang="ko-KR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-&gt;’</a:t>
            </a:r>
            <a:r>
              <a:rPr kumimoji="1"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검증 항목</a:t>
            </a:r>
            <a:r>
              <a:rPr kumimoji="1" lang="en-US" altLang="ko-KR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</a:t>
            </a:r>
            <a:r>
              <a:rPr kumimoji="1"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변경</a:t>
            </a:r>
            <a:endParaRPr kumimoji="1" lang="en-US" altLang="ko-KR" sz="1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kumimoji="1" lang="en-US" altLang="ko-KR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</a:t>
            </a:r>
            <a:r>
              <a:rPr kumimoji="1"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검증 상태에 따라 필터 기능 추가</a:t>
            </a:r>
            <a:endParaRPr kumimoji="1" lang="en-US" altLang="ko-KR" sz="1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kumimoji="1" lang="en-US" altLang="ko-KR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</a:t>
            </a:r>
            <a:r>
              <a:rPr kumimoji="1"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kumimoji="1" lang="en-US" altLang="ko-KR" sz="1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" name="꺾인 연결선[E] 12">
            <a:extLst>
              <a:ext uri="{FF2B5EF4-FFF2-40B4-BE49-F238E27FC236}">
                <a16:creationId xmlns:a16="http://schemas.microsoft.com/office/drawing/2014/main" id="{95DD7857-D34C-C805-B2FF-5674953A0D43}"/>
              </a:ext>
            </a:extLst>
          </p:cNvPr>
          <p:cNvCxnSpPr>
            <a:cxnSpLocks/>
            <a:stCxn id="10" idx="0"/>
            <a:endCxn id="9" idx="0"/>
          </p:cNvCxnSpPr>
          <p:nvPr/>
        </p:nvCxnSpPr>
        <p:spPr>
          <a:xfrm rot="16200000" flipV="1">
            <a:off x="7135361" y="2462527"/>
            <a:ext cx="304427" cy="5040208"/>
          </a:xfrm>
          <a:prstGeom prst="bentConnector3">
            <a:avLst>
              <a:gd name="adj1" fmla="val 16529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9FE1EDA-6A2D-240D-42DE-CB5AAF187E5F}"/>
              </a:ext>
            </a:extLst>
          </p:cNvPr>
          <p:cNvSpPr/>
          <p:nvPr/>
        </p:nvSpPr>
        <p:spPr>
          <a:xfrm>
            <a:off x="7880160" y="6092686"/>
            <a:ext cx="3855036" cy="3329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스크롤 하여 페이지를 내려도 상태 로그가 </a:t>
            </a:r>
            <a:r>
              <a:rPr kumimoji="1" lang="ko-KR" altLang="en-US" sz="1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안따라옴</a:t>
            </a:r>
            <a:endParaRPr kumimoji="1" lang="en-US" altLang="ko-KR" sz="1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7CE0534C-0CBC-D133-4061-FEBE6B988381}"/>
              </a:ext>
            </a:extLst>
          </p:cNvPr>
          <p:cNvSpPr/>
          <p:nvPr/>
        </p:nvSpPr>
        <p:spPr>
          <a:xfrm>
            <a:off x="6122900" y="5019261"/>
            <a:ext cx="1553560" cy="15803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C257DD4-6506-C8C8-DA9A-DC61187B4854}"/>
              </a:ext>
            </a:extLst>
          </p:cNvPr>
          <p:cNvCxnSpPr>
            <a:stCxn id="15" idx="1"/>
            <a:endCxn id="21" idx="3"/>
          </p:cNvCxnSpPr>
          <p:nvPr/>
        </p:nvCxnSpPr>
        <p:spPr>
          <a:xfrm flipH="1" flipV="1">
            <a:off x="7676460" y="5809422"/>
            <a:ext cx="203700" cy="449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595CAF1-2C7F-CAC9-68C2-7091AF9DCFC2}"/>
              </a:ext>
            </a:extLst>
          </p:cNvPr>
          <p:cNvSpPr/>
          <p:nvPr/>
        </p:nvSpPr>
        <p:spPr>
          <a:xfrm>
            <a:off x="8042780" y="3813861"/>
            <a:ext cx="3855036" cy="3044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en-US" altLang="ko-KR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</a:t>
            </a:r>
            <a:r>
              <a:rPr kumimoji="1"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검증</a:t>
            </a:r>
            <a:r>
              <a:rPr kumimoji="1" lang="en-US" altLang="ko-KR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</a:t>
            </a:r>
            <a:r>
              <a:rPr kumimoji="1"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버튼 클릭 시 </a:t>
            </a:r>
            <a:r>
              <a:rPr kumimoji="1" lang="en-US" altLang="ko-KR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</a:t>
            </a:r>
            <a:r>
              <a:rPr kumimoji="1"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검증 대기</a:t>
            </a:r>
            <a:r>
              <a:rPr kumimoji="1" lang="en-US" altLang="ko-KR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</a:t>
            </a:r>
            <a:r>
              <a:rPr kumimoji="1"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상태 </a:t>
            </a:r>
            <a:r>
              <a:rPr kumimoji="1" lang="ko-KR" altLang="en-US" sz="1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인것만</a:t>
            </a:r>
            <a:r>
              <a:rPr kumimoji="1" lang="ko-KR" alt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수행</a:t>
            </a:r>
            <a:endParaRPr kumimoji="1" lang="en-US" altLang="ko-KR" sz="1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DCA2541E-3304-C050-5CA1-9EDF67CF3204}"/>
              </a:ext>
            </a:extLst>
          </p:cNvPr>
          <p:cNvSpPr/>
          <p:nvPr/>
        </p:nvSpPr>
        <p:spPr>
          <a:xfrm>
            <a:off x="178905" y="3776310"/>
            <a:ext cx="7599406" cy="37953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E74221E-BAED-D232-03C6-6A9350DADCC4}"/>
              </a:ext>
            </a:extLst>
          </p:cNvPr>
          <p:cNvCxnSpPr>
            <a:cxnSpLocks/>
            <a:stCxn id="24" idx="1"/>
            <a:endCxn id="25" idx="3"/>
          </p:cNvCxnSpPr>
          <p:nvPr/>
        </p:nvCxnSpPr>
        <p:spPr>
          <a:xfrm flipH="1">
            <a:off x="7778311" y="3966075"/>
            <a:ext cx="2644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3FB8EF3-5A08-7D7E-05B6-767AF92CEA89}"/>
              </a:ext>
            </a:extLst>
          </p:cNvPr>
          <p:cNvSpPr/>
          <p:nvPr/>
        </p:nvSpPr>
        <p:spPr>
          <a:xfrm>
            <a:off x="3101011" y="2675913"/>
            <a:ext cx="1321904" cy="265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도시 선택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472CB9C-397D-E606-6ADF-B2B73980A0AC}"/>
              </a:ext>
            </a:extLst>
          </p:cNvPr>
          <p:cNvSpPr/>
          <p:nvPr/>
        </p:nvSpPr>
        <p:spPr>
          <a:xfrm>
            <a:off x="4483226" y="2675913"/>
            <a:ext cx="1321904" cy="265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순위 선택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CECB719-495A-E0F8-F6FD-46B8E86B3953}"/>
              </a:ext>
            </a:extLst>
          </p:cNvPr>
          <p:cNvSpPr/>
          <p:nvPr/>
        </p:nvSpPr>
        <p:spPr>
          <a:xfrm>
            <a:off x="5865441" y="2671807"/>
            <a:ext cx="1321904" cy="265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기관 선택</a:t>
            </a: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87A530CA-FE83-B0E6-BDF8-5A13134C8031}"/>
              </a:ext>
            </a:extLst>
          </p:cNvPr>
          <p:cNvSpPr/>
          <p:nvPr/>
        </p:nvSpPr>
        <p:spPr>
          <a:xfrm>
            <a:off x="2995056" y="2546982"/>
            <a:ext cx="4290327" cy="4540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 err="1"/>
              <a:t>ㅍ</a:t>
            </a:r>
            <a:endParaRPr kumimoji="1"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D6B835C-EEE0-5A81-0250-2A178B9B501A}"/>
              </a:ext>
            </a:extLst>
          </p:cNvPr>
          <p:cNvSpPr/>
          <p:nvPr/>
        </p:nvSpPr>
        <p:spPr>
          <a:xfrm>
            <a:off x="8042780" y="2281470"/>
            <a:ext cx="776908" cy="265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도시 선택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444FBE2-E80A-CEFC-17B6-9AFE9C61A954}"/>
              </a:ext>
            </a:extLst>
          </p:cNvPr>
          <p:cNvSpPr/>
          <p:nvPr/>
        </p:nvSpPr>
        <p:spPr>
          <a:xfrm>
            <a:off x="9378860" y="1606009"/>
            <a:ext cx="776908" cy="265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kumimoji="1" lang="ko-KR" alt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순위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BDAF0D9-B192-DD66-8A62-0B30D4F4E20C}"/>
              </a:ext>
            </a:extLst>
          </p:cNvPr>
          <p:cNvSpPr/>
          <p:nvPr/>
        </p:nvSpPr>
        <p:spPr>
          <a:xfrm>
            <a:off x="9378860" y="1950498"/>
            <a:ext cx="776908" cy="265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kumimoji="1" lang="ko-KR" alt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순위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9629753-22FB-881B-DDE0-9763B990CA39}"/>
              </a:ext>
            </a:extLst>
          </p:cNvPr>
          <p:cNvSpPr/>
          <p:nvPr/>
        </p:nvSpPr>
        <p:spPr>
          <a:xfrm>
            <a:off x="9378860" y="2282965"/>
            <a:ext cx="776908" cy="265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kumimoji="1" lang="ko-KR" alt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순위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DF25111-BD56-5FE6-1A90-923D16C0FEE4}"/>
              </a:ext>
            </a:extLst>
          </p:cNvPr>
          <p:cNvSpPr/>
          <p:nvPr/>
        </p:nvSpPr>
        <p:spPr>
          <a:xfrm>
            <a:off x="9378860" y="2873772"/>
            <a:ext cx="776908" cy="265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kumimoji="1" lang="ko-KR" alt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순위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96DF17D-EE55-52F5-71E8-D5EC8B40E47F}"/>
              </a:ext>
            </a:extLst>
          </p:cNvPr>
          <p:cNvSpPr/>
          <p:nvPr/>
        </p:nvSpPr>
        <p:spPr>
          <a:xfrm>
            <a:off x="9378860" y="2578368"/>
            <a:ext cx="776908" cy="265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  <a:endParaRPr kumimoji="1" lang="ko-KR" altLang="en-US" sz="10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93A3153-7BF1-DC06-96F3-E36D5A41FDF5}"/>
              </a:ext>
            </a:extLst>
          </p:cNvPr>
          <p:cNvSpPr/>
          <p:nvPr/>
        </p:nvSpPr>
        <p:spPr>
          <a:xfrm>
            <a:off x="9276522" y="1570948"/>
            <a:ext cx="1007165" cy="16758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6866B4DD-89B5-0677-6BC5-D597B5CDDA25}"/>
              </a:ext>
            </a:extLst>
          </p:cNvPr>
          <p:cNvCxnSpPr>
            <a:stCxn id="37" idx="3"/>
            <a:endCxn id="43" idx="1"/>
          </p:cNvCxnSpPr>
          <p:nvPr/>
        </p:nvCxnSpPr>
        <p:spPr>
          <a:xfrm flipV="1">
            <a:off x="8819688" y="2408866"/>
            <a:ext cx="456834" cy="5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B768459-D780-4476-A623-C3497DC2749C}"/>
              </a:ext>
            </a:extLst>
          </p:cNvPr>
          <p:cNvSpPr/>
          <p:nvPr/>
        </p:nvSpPr>
        <p:spPr>
          <a:xfrm>
            <a:off x="10869793" y="1613473"/>
            <a:ext cx="837155" cy="265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선택 순위에 따른 기관 선택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28A4EB8-7A52-6830-6A7B-12487EC2170B}"/>
              </a:ext>
            </a:extLst>
          </p:cNvPr>
          <p:cNvSpPr/>
          <p:nvPr/>
        </p:nvSpPr>
        <p:spPr>
          <a:xfrm>
            <a:off x="10869794" y="1957962"/>
            <a:ext cx="776908" cy="265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73F76A7-BBFB-775E-EDD1-08A69935D3C4}"/>
              </a:ext>
            </a:extLst>
          </p:cNvPr>
          <p:cNvSpPr/>
          <p:nvPr/>
        </p:nvSpPr>
        <p:spPr>
          <a:xfrm>
            <a:off x="10869794" y="2290429"/>
            <a:ext cx="776908" cy="265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CA7FA63-11E6-D438-67E2-474E4EB45E17}"/>
              </a:ext>
            </a:extLst>
          </p:cNvPr>
          <p:cNvSpPr/>
          <p:nvPr/>
        </p:nvSpPr>
        <p:spPr>
          <a:xfrm>
            <a:off x="10869794" y="2881236"/>
            <a:ext cx="776908" cy="265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015CE74-11D4-43B8-ECD4-768EC01FC9C7}"/>
              </a:ext>
            </a:extLst>
          </p:cNvPr>
          <p:cNvSpPr/>
          <p:nvPr/>
        </p:nvSpPr>
        <p:spPr>
          <a:xfrm>
            <a:off x="10869794" y="2585832"/>
            <a:ext cx="776908" cy="265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  <a:endParaRPr kumimoji="1" lang="ko-KR" altLang="en-US" sz="10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93EB1DB-D179-1F4E-746B-26D8294E2C49}"/>
              </a:ext>
            </a:extLst>
          </p:cNvPr>
          <p:cNvSpPr/>
          <p:nvPr/>
        </p:nvSpPr>
        <p:spPr>
          <a:xfrm>
            <a:off x="10767456" y="1578412"/>
            <a:ext cx="1007165" cy="16758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BE0836E-B898-492D-9BE6-F4B4F483E6B6}"/>
              </a:ext>
            </a:extLst>
          </p:cNvPr>
          <p:cNvCxnSpPr>
            <a:cxnSpLocks/>
            <a:stCxn id="38" idx="3"/>
            <a:endCxn id="52" idx="1"/>
          </p:cNvCxnSpPr>
          <p:nvPr/>
        </p:nvCxnSpPr>
        <p:spPr>
          <a:xfrm>
            <a:off x="10155768" y="1738765"/>
            <a:ext cx="611688" cy="677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094E1723-2B06-3D1C-0975-D79D0CCE7133}"/>
              </a:ext>
            </a:extLst>
          </p:cNvPr>
          <p:cNvCxnSpPr>
            <a:cxnSpLocks/>
            <a:stCxn id="39" idx="3"/>
            <a:endCxn id="52" idx="1"/>
          </p:cNvCxnSpPr>
          <p:nvPr/>
        </p:nvCxnSpPr>
        <p:spPr>
          <a:xfrm>
            <a:off x="10155768" y="2083254"/>
            <a:ext cx="611688" cy="3330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63DB03D8-BAFF-BDA8-65CD-FA192E116688}"/>
              </a:ext>
            </a:extLst>
          </p:cNvPr>
          <p:cNvCxnSpPr>
            <a:cxnSpLocks/>
            <a:stCxn id="40" idx="3"/>
            <a:endCxn id="52" idx="1"/>
          </p:cNvCxnSpPr>
          <p:nvPr/>
        </p:nvCxnSpPr>
        <p:spPr>
          <a:xfrm>
            <a:off x="10155768" y="2415721"/>
            <a:ext cx="611688" cy="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C684BE8B-244B-2523-A874-E197181F4E81}"/>
              </a:ext>
            </a:extLst>
          </p:cNvPr>
          <p:cNvCxnSpPr>
            <a:cxnSpLocks/>
            <a:stCxn id="41" idx="3"/>
            <a:endCxn id="52" idx="1"/>
          </p:cNvCxnSpPr>
          <p:nvPr/>
        </p:nvCxnSpPr>
        <p:spPr>
          <a:xfrm flipV="1">
            <a:off x="10155768" y="2416330"/>
            <a:ext cx="611688" cy="590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BA682F0-52B5-74AE-579D-409372317DA6}"/>
              </a:ext>
            </a:extLst>
          </p:cNvPr>
          <p:cNvSpPr/>
          <p:nvPr/>
        </p:nvSpPr>
        <p:spPr>
          <a:xfrm>
            <a:off x="7959214" y="1570948"/>
            <a:ext cx="3910041" cy="17622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84473264-C0B3-F596-E737-399C6702C73B}"/>
              </a:ext>
            </a:extLst>
          </p:cNvPr>
          <p:cNvCxnSpPr>
            <a:stCxn id="36" idx="3"/>
            <a:endCxn id="65" idx="1"/>
          </p:cNvCxnSpPr>
          <p:nvPr/>
        </p:nvCxnSpPr>
        <p:spPr>
          <a:xfrm flipV="1">
            <a:off x="7285383" y="2452086"/>
            <a:ext cx="673831" cy="321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DE37480-D647-DE40-BA09-730DAF0803BC}"/>
              </a:ext>
            </a:extLst>
          </p:cNvPr>
          <p:cNvSpPr/>
          <p:nvPr/>
        </p:nvSpPr>
        <p:spPr>
          <a:xfrm>
            <a:off x="178905" y="464228"/>
            <a:ext cx="7674355" cy="10011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050" dirty="0">
                <a:solidFill>
                  <a:sysClr val="windowText" lastClr="000000"/>
                </a:solidFill>
              </a:rPr>
              <a:t>기본 사항</a:t>
            </a:r>
            <a:endParaRPr kumimoji="1" lang="en-US" altLang="ko-KR" sz="1050" dirty="0">
              <a:solidFill>
                <a:sysClr val="windowText" lastClr="000000"/>
              </a:solidFill>
            </a:endParaRPr>
          </a:p>
          <a:p>
            <a:pPr marL="342900" indent="-342900">
              <a:buAutoNum type="arabicPeriod"/>
            </a:pPr>
            <a:r>
              <a:rPr kumimoji="1" lang="ko-KR" altLang="en-US" sz="1050" dirty="0">
                <a:solidFill>
                  <a:sysClr val="windowText" lastClr="000000"/>
                </a:solidFill>
              </a:rPr>
              <a:t>서버 재시작 시 이전 작업이 </a:t>
            </a:r>
            <a:r>
              <a:rPr kumimoji="1" lang="ko-KR" altLang="en-US" sz="1050" dirty="0" err="1">
                <a:solidFill>
                  <a:sysClr val="windowText" lastClr="000000"/>
                </a:solidFill>
              </a:rPr>
              <a:t>날라가서</a:t>
            </a:r>
            <a:r>
              <a:rPr kumimoji="1" lang="ko-KR" altLang="en-US" sz="1050" dirty="0">
                <a:solidFill>
                  <a:sysClr val="windowText" lastClr="000000"/>
                </a:solidFill>
              </a:rPr>
              <a:t> 유지가 안됨</a:t>
            </a:r>
            <a:endParaRPr kumimoji="1" lang="en-US" altLang="ko-KR" sz="1050" dirty="0">
              <a:solidFill>
                <a:sysClr val="windowText" lastClr="000000"/>
              </a:solidFill>
            </a:endParaRPr>
          </a:p>
          <a:p>
            <a:pPr marL="342900" indent="-342900">
              <a:buAutoNum type="arabicPeriod"/>
            </a:pPr>
            <a:r>
              <a:rPr kumimoji="1" lang="en-US" altLang="ko-KR" sz="1050" dirty="0">
                <a:solidFill>
                  <a:sysClr val="windowText" lastClr="000000"/>
                </a:solidFill>
              </a:rPr>
              <a:t>‘</a:t>
            </a:r>
            <a:r>
              <a:rPr kumimoji="1" lang="ko-KR" altLang="en-US" sz="1050" dirty="0">
                <a:solidFill>
                  <a:sysClr val="windowText" lastClr="000000"/>
                </a:solidFill>
              </a:rPr>
              <a:t>기간 내 게시물</a:t>
            </a:r>
            <a:r>
              <a:rPr kumimoji="1" lang="en-US" altLang="ko-KR" sz="1050" dirty="0">
                <a:solidFill>
                  <a:sysClr val="windowText" lastClr="000000"/>
                </a:solidFill>
              </a:rPr>
              <a:t>’,</a:t>
            </a:r>
            <a:r>
              <a:rPr kumimoji="1" lang="ko-KR" altLang="en-US" sz="1050" dirty="0">
                <a:solidFill>
                  <a:sysClr val="windowText" lastClr="000000"/>
                </a:solidFill>
              </a:rPr>
              <a:t> </a:t>
            </a:r>
            <a:r>
              <a:rPr kumimoji="1" lang="en-US" altLang="ko-KR" sz="1050" dirty="0">
                <a:solidFill>
                  <a:sysClr val="windowText" lastClr="000000"/>
                </a:solidFill>
              </a:rPr>
              <a:t>‘</a:t>
            </a:r>
            <a:r>
              <a:rPr kumimoji="1" lang="ko-KR" altLang="en-US" sz="1050" dirty="0" err="1">
                <a:solidFill>
                  <a:sysClr val="windowText" lastClr="000000"/>
                </a:solidFill>
              </a:rPr>
              <a:t>크롤링</a:t>
            </a:r>
            <a:r>
              <a:rPr kumimoji="1" lang="ko-KR" altLang="en-US" sz="1050" dirty="0">
                <a:solidFill>
                  <a:sysClr val="windowText" lastClr="000000"/>
                </a:solidFill>
              </a:rPr>
              <a:t> 항목 상태</a:t>
            </a:r>
            <a:r>
              <a:rPr kumimoji="1" lang="en-US" altLang="ko-KR" sz="1050" dirty="0">
                <a:solidFill>
                  <a:sysClr val="windowText" lastClr="000000"/>
                </a:solidFill>
              </a:rPr>
              <a:t>’</a:t>
            </a:r>
            <a:r>
              <a:rPr kumimoji="1" lang="ko-KR" altLang="en-US" sz="1050" dirty="0">
                <a:solidFill>
                  <a:sysClr val="windowText" lastClr="000000"/>
                </a:solidFill>
              </a:rPr>
              <a:t>에서 페이지에 노출되는 항목의 개수가 제한되어 있음</a:t>
            </a:r>
            <a:r>
              <a:rPr kumimoji="1" lang="en-US" altLang="ko-KR" sz="1050" dirty="0">
                <a:solidFill>
                  <a:sysClr val="windowText" lastClr="000000"/>
                </a:solidFill>
              </a:rPr>
              <a:t>.</a:t>
            </a:r>
            <a:r>
              <a:rPr kumimoji="1" lang="ko-KR" altLang="en-US" sz="1050" dirty="0">
                <a:solidFill>
                  <a:sysClr val="windowText" lastClr="000000"/>
                </a:solidFill>
              </a:rPr>
              <a:t> 페이지로 나타낼 필요 있음</a:t>
            </a:r>
            <a:r>
              <a:rPr kumimoji="1" lang="en-US" altLang="ko-KR" sz="1050" dirty="0">
                <a:solidFill>
                  <a:sysClr val="windowText" lastClr="000000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kumimoji="1" lang="ko-KR" altLang="en-US" sz="1050" dirty="0">
                <a:solidFill>
                  <a:sysClr val="windowText" lastClr="000000"/>
                </a:solidFill>
              </a:rPr>
              <a:t>기존에 수집 검증 작업은 필요 </a:t>
            </a:r>
            <a:r>
              <a:rPr kumimoji="1" lang="ko-KR" altLang="en-US" sz="1050" dirty="0" err="1">
                <a:solidFill>
                  <a:sysClr val="windowText" lastClr="000000"/>
                </a:solidFill>
              </a:rPr>
              <a:t>없을듯</a:t>
            </a:r>
            <a:endParaRPr kumimoji="1" lang="en-US" altLang="ko-KR" sz="1050" dirty="0">
              <a:solidFill>
                <a:sysClr val="windowText" lastClr="000000"/>
              </a:solidFill>
            </a:endParaRPr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D6EB84F3-797C-C65C-7C1D-7D0F571C62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5" t="58324" r="-935" b="-615"/>
          <a:stretch>
            <a:fillRect/>
          </a:stretch>
        </p:blipFill>
        <p:spPr>
          <a:xfrm>
            <a:off x="8096620" y="395699"/>
            <a:ext cx="4035069" cy="110829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BD2A8702-E519-3E10-79AA-7CADDDC057D2}"/>
              </a:ext>
            </a:extLst>
          </p:cNvPr>
          <p:cNvCxnSpPr/>
          <p:nvPr/>
        </p:nvCxnSpPr>
        <p:spPr>
          <a:xfrm>
            <a:off x="2883877" y="1195754"/>
            <a:ext cx="51589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321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470BD-A357-5A18-CB8E-9CB0AC22E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2126CC-EFCD-C946-5BAF-D3758705F251}"/>
              </a:ext>
            </a:extLst>
          </p:cNvPr>
          <p:cNvSpPr txBox="1"/>
          <p:nvPr/>
        </p:nvSpPr>
        <p:spPr>
          <a:xfrm>
            <a:off x="0" y="0"/>
            <a:ext cx="4581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26.</a:t>
            </a:r>
            <a:r>
              <a:rPr kumimoji="1" lang="ko-KR" altLang="en-US" dirty="0"/>
              <a:t> </a:t>
            </a:r>
            <a:r>
              <a:rPr kumimoji="1" lang="en-US" altLang="ko-KR" dirty="0"/>
              <a:t>6.</a:t>
            </a:r>
            <a:r>
              <a:rPr kumimoji="1" lang="ko-KR" altLang="en-US" dirty="0"/>
              <a:t> </a:t>
            </a:r>
            <a:r>
              <a:rPr kumimoji="1" lang="en-US" altLang="ko-KR" dirty="0"/>
              <a:t>30.(</a:t>
            </a:r>
            <a:r>
              <a:rPr kumimoji="1" lang="ko-KR" altLang="en-US" dirty="0"/>
              <a:t>화</a:t>
            </a:r>
            <a:r>
              <a:rPr kumimoji="1" lang="en-US" altLang="ko-KR" dirty="0"/>
              <a:t>)</a:t>
            </a:r>
            <a:r>
              <a:rPr kumimoji="1" lang="ko-KR" altLang="en-US" dirty="0"/>
              <a:t> 수집 검증 페이지 수정 사항</a:t>
            </a:r>
            <a:r>
              <a:rPr kumimoji="1" lang="en-US" altLang="ko-KR" dirty="0"/>
              <a:t>2</a:t>
            </a:r>
            <a:endParaRPr kumimoji="1"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D37721-AEC3-CC0B-293D-16902270F991}"/>
              </a:ext>
            </a:extLst>
          </p:cNvPr>
          <p:cNvSpPr/>
          <p:nvPr/>
        </p:nvSpPr>
        <p:spPr>
          <a:xfrm>
            <a:off x="60311" y="365180"/>
            <a:ext cx="12050829" cy="633947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ysClr val="windowText" lastClr="0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AE3657B-3817-5338-6A72-7011E09C2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0" y="1656709"/>
            <a:ext cx="7772400" cy="504794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2AC31BF-51D4-E534-20EE-850E0D78BECB}"/>
              </a:ext>
            </a:extLst>
          </p:cNvPr>
          <p:cNvSpPr/>
          <p:nvPr/>
        </p:nvSpPr>
        <p:spPr>
          <a:xfrm>
            <a:off x="8030307" y="4689231"/>
            <a:ext cx="3868615" cy="1230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100" dirty="0">
                <a:solidFill>
                  <a:sysClr val="windowText" lastClr="000000"/>
                </a:solidFill>
              </a:rPr>
              <a:t>검증 할 때 각각의 항목에 대해서 현재 항목이 어떤 조건 혹은 </a:t>
            </a:r>
            <a:r>
              <a:rPr kumimoji="1" lang="en-US" altLang="ko-KR" sz="1100" dirty="0" err="1">
                <a:solidFill>
                  <a:sysClr val="windowText" lastClr="000000"/>
                </a:solidFill>
              </a:rPr>
              <a:t>api</a:t>
            </a:r>
            <a:r>
              <a:rPr kumimoji="1" lang="ko-KR" altLang="en-US" sz="1100" dirty="0" err="1">
                <a:solidFill>
                  <a:sysClr val="windowText" lastClr="000000"/>
                </a:solidFill>
              </a:rPr>
              <a:t>를</a:t>
            </a:r>
            <a:r>
              <a:rPr kumimoji="1" lang="ko-KR" altLang="en-US" sz="1100" dirty="0">
                <a:solidFill>
                  <a:sysClr val="windowText" lastClr="000000"/>
                </a:solidFill>
              </a:rPr>
              <a:t> 거치고 있는지 실시간으로 보여주게 만들어 </a:t>
            </a:r>
            <a:r>
              <a:rPr kumimoji="1" lang="ko-KR" altLang="en-US" sz="1100" dirty="0" err="1">
                <a:solidFill>
                  <a:sysClr val="windowText" lastClr="000000"/>
                </a:solidFill>
              </a:rPr>
              <a:t>줬으면해</a:t>
            </a:r>
            <a:r>
              <a:rPr kumimoji="1" lang="en-US" altLang="ko-KR" sz="1100" dirty="0">
                <a:solidFill>
                  <a:sysClr val="windowText" lastClr="000000"/>
                </a:solidFill>
              </a:rPr>
              <a:t>.</a:t>
            </a:r>
            <a:r>
              <a:rPr kumimoji="1" lang="ko-KR" altLang="en-US" sz="1100" dirty="0">
                <a:solidFill>
                  <a:sysClr val="windowText" lastClr="000000"/>
                </a:solidFill>
              </a:rPr>
              <a:t> </a:t>
            </a:r>
            <a:endParaRPr kumimoji="1" lang="en-US" altLang="ko-KR" sz="1100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ko-KR" altLang="en-US" sz="1100" dirty="0">
                <a:solidFill>
                  <a:sysClr val="windowText" lastClr="000000"/>
                </a:solidFill>
              </a:rPr>
              <a:t>조건 혹은 </a:t>
            </a:r>
            <a:r>
              <a:rPr kumimoji="1" lang="en-US" altLang="ko-KR" sz="1100" dirty="0" err="1">
                <a:solidFill>
                  <a:sysClr val="windowText" lastClr="000000"/>
                </a:solidFill>
              </a:rPr>
              <a:t>api</a:t>
            </a:r>
            <a:r>
              <a:rPr kumimoji="1" lang="ko-KR" altLang="en-US" sz="1100" dirty="0" err="1">
                <a:solidFill>
                  <a:sysClr val="windowText" lastClr="000000"/>
                </a:solidFill>
              </a:rPr>
              <a:t>를</a:t>
            </a:r>
            <a:r>
              <a:rPr kumimoji="1" lang="ko-KR" altLang="en-US" sz="1100" dirty="0">
                <a:solidFill>
                  <a:sysClr val="windowText" lastClr="000000"/>
                </a:solidFill>
              </a:rPr>
              <a:t> 하나씩 </a:t>
            </a:r>
            <a:r>
              <a:rPr kumimoji="1" lang="ko-KR" altLang="en-US" sz="1100" dirty="0" err="1">
                <a:solidFill>
                  <a:sysClr val="windowText" lastClr="000000"/>
                </a:solidFill>
              </a:rPr>
              <a:t>통과할때마나</a:t>
            </a:r>
            <a:r>
              <a:rPr kumimoji="1" lang="ko-KR" altLang="en-US" sz="1100" dirty="0">
                <a:solidFill>
                  <a:sysClr val="windowText" lastClr="000000"/>
                </a:solidFill>
              </a:rPr>
              <a:t> 게이지가 조금씩 차서 마지막 조건을 지나 검증 결과가 나오면 </a:t>
            </a:r>
            <a:r>
              <a:rPr kumimoji="1" lang="en-US" altLang="ko-KR" sz="1100" dirty="0">
                <a:solidFill>
                  <a:sysClr val="windowText" lastClr="000000"/>
                </a:solidFill>
              </a:rPr>
              <a:t>100%</a:t>
            </a:r>
            <a:r>
              <a:rPr kumimoji="1" lang="ko-KR" altLang="en-US" sz="1100" dirty="0">
                <a:solidFill>
                  <a:sysClr val="windowText" lastClr="000000"/>
                </a:solidFill>
              </a:rPr>
              <a:t>로 다 차게 만들어줘</a:t>
            </a:r>
            <a:endParaRPr kumimoji="1" lang="en-US" altLang="ko-KR" sz="1100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112633-F632-5415-630D-6E11F4CDEBFE}"/>
              </a:ext>
            </a:extLst>
          </p:cNvPr>
          <p:cNvSpPr/>
          <p:nvPr/>
        </p:nvSpPr>
        <p:spPr>
          <a:xfrm>
            <a:off x="4689230" y="4689231"/>
            <a:ext cx="855785" cy="20153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12" name="꺾인 연결선[E] 11">
            <a:extLst>
              <a:ext uri="{FF2B5EF4-FFF2-40B4-BE49-F238E27FC236}">
                <a16:creationId xmlns:a16="http://schemas.microsoft.com/office/drawing/2014/main" id="{4F72CE33-4560-95A9-C6AF-F065983F6DD8}"/>
              </a:ext>
            </a:extLst>
          </p:cNvPr>
          <p:cNvCxnSpPr>
            <a:stCxn id="7" idx="0"/>
            <a:endCxn id="6" idx="0"/>
          </p:cNvCxnSpPr>
          <p:nvPr/>
        </p:nvCxnSpPr>
        <p:spPr>
          <a:xfrm rot="5400000" flipH="1" flipV="1">
            <a:off x="7540869" y="2265485"/>
            <a:ext cx="12700" cy="4847492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223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2128</TotalTime>
  <Words>616</Words>
  <Application>Microsoft Macintosh PowerPoint</Application>
  <PresentationFormat>와이드스크린</PresentationFormat>
  <Paragraphs>113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creator/>
  <ns0:lastModifiedBy/>
  <ns0:revision>8</ns0:revision>
  <ns2:created xsi:type="dcterms:W3CDTF">2026-06-06T06:27:07Z</ns2:created>
  <ns2:modified xsi:type="dcterms:W3CDTF">2026-06-30T07:36:00Z</ns2:modified>
</ns0:coreProperties>
</file>